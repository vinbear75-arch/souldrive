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开场：项目叫 SoulDrive。
目标是把移动存储从被动保存文件，升级成随身的端侧 AI 知识工作区。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先讲痛点：资料放在移动存储里，但理解资料仍然困难。
抓住效率、隐私、可信复核三个问题。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这页讲解决方案闭环。
移动盘承载资料和运行资产，本地引擎完成解析、索引、问答和证据输出。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架构表达：桌面端负责体验和进程，本地 sidecar 负责知识处理。
强调边界清楚，这是产品化工程而不是简单脚本。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移动存储变成运行边界。
设备拔出后系统锁定，不再访问数据，这个设计适合强调安全和场景融合。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技术差异化：不是单纯向量库，而是混合检索。
强调 evidence gate，证据不足时拒答，这比总是回答更可信。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真实评测数据证明工程迭代。
重点说 7B 综合可靠率提升 7.9 个百分点，拒答正确率提升 55.6 个百分点。
同时诚实说明耗时增加，所以后续做双模型策略。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证明工程完成度。
不要逐字念，每个模块点一下，重点说这不是只会演示的聊天框。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这页讲未来优化。
建议用三句话：更快，双模型策略；更广，支持更多资料；更像产品，打通知识工作流和设备级交付。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最后收束到比赛主题。
强调 SoulDrive 的目标不是替代云端模型，而是让私有知识在移动存储中可被理解、组织和追溯。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-411480"/>
            <a:ext cx="3840480" cy="3840480"/>
          </a:xfrm>
          <a:prstGeom prst="arc">
            <a:avLst/>
          </a:prstGeom>
          <a:noFill/>
          <a:ln w="13970">
            <a:solidFill>
              <a:srgbClr val="19D3FF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4572000"/>
            <a:ext cx="3840480" cy="3840480"/>
          </a:xfrm>
          <a:prstGeom prst="arc">
            <a:avLst/>
          </a:prstGeom>
          <a:noFill/>
          <a:ln w="13970">
            <a:solidFill>
              <a:srgbClr val="1464F4">
                <a:alpha val="4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241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SoulDrive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94944" y="17830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D3FF"/>
                </a:solidFill>
              </a:rPr>
              <a:t>移动存储上的端侧 AI 知识引擎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233172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7ECFF"/>
                </a:solidFill>
              </a:rPr>
              <a:t>让 U 盘 / 移动硬盘从“文件容器”升级为随身、离线、可审计的 AI 工作区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13232" y="2953512"/>
            <a:ext cx="3611880" cy="320040"/>
          </a:xfrm>
          <a:prstGeom prst="roundRect">
            <a:avLst>
              <a:gd name="adj" fmla="val 22857"/>
            </a:avLst>
          </a:prstGeom>
          <a:solidFill>
            <a:srgbClr val="103A83">
              <a:alpha val="92000"/>
            </a:srgbClr>
          </a:solidFill>
          <a:ln w="10160">
            <a:solidFill>
              <a:srgbClr val="2A78F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3026664"/>
            <a:ext cx="3410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6FF"/>
                </a:solidFill>
              </a:rPr>
              <a:t>京东大学生 AI + 移动存储场景融合创新大赛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4498848" y="2953512"/>
            <a:ext cx="1965960" cy="320040"/>
          </a:xfrm>
          <a:prstGeom prst="roundRect">
            <a:avLst>
              <a:gd name="adj" fmla="val 22857"/>
            </a:avLst>
          </a:prstGeom>
          <a:solidFill>
            <a:srgbClr val="103A83">
              <a:alpha val="92000"/>
            </a:srgbClr>
          </a:solidFill>
          <a:ln w="10160">
            <a:solidFill>
              <a:srgbClr val="2A78F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3026664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6FF"/>
                </a:solidFill>
              </a:rPr>
              <a:t>5 分钟线上面试汇报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629400" y="2953512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03A83">
              <a:alpha val="92000"/>
            </a:srgbClr>
          </a:solidFill>
          <a:ln w="10160">
            <a:solidFill>
              <a:srgbClr val="2A78F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9984" y="3026664"/>
            <a:ext cx="1399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6FF"/>
                </a:solidFill>
              </a:rPr>
              <a:t>技术能力组表达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13232" y="4069080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88C9FF">
                <a:alpha val="6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233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D3FF"/>
                </a:solidFill>
              </a:rPr>
              <a:t>端侧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9536" y="4700016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D7ECFF"/>
                </a:solidFill>
              </a:rPr>
              <a:t>本地模型与索引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2587752" y="4069080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88C9FF">
                <a:alpha val="6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9192" y="4233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251B"/>
                </a:solidFill>
              </a:rPr>
              <a:t>可信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734056" y="4700016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D7ECFF"/>
                </a:solidFill>
              </a:rPr>
              <a:t>证据链与审计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4462272" y="4069080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88C9FF">
                <a:alpha val="6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4233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D3FF"/>
                </a:solidFill>
              </a:rPr>
              <a:t>移动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08576" y="4700016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D7ECFF"/>
                </a:solidFill>
              </a:rPr>
              <a:t>随身工作区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7863840" y="1261872"/>
            <a:ext cx="2606040" cy="2011680"/>
          </a:xfrm>
          <a:prstGeom prst="chevron">
            <a:avLst/>
          </a:prstGeom>
          <a:solidFill>
            <a:srgbClr val="0E4FC7">
              <a:alpha val="96000"/>
            </a:srgbClr>
          </a:solidFill>
          <a:ln w="12700">
            <a:solidFill>
              <a:srgbClr val="4CBFFF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0800000">
            <a:off x="8302752" y="2304288"/>
            <a:ext cx="2606040" cy="2011680"/>
          </a:xfrm>
          <a:prstGeom prst="chevron">
            <a:avLst/>
          </a:prstGeom>
          <a:solidFill>
            <a:srgbClr val="0D3A91">
              <a:alpha val="92000"/>
            </a:srgbClr>
          </a:solidFill>
          <a:ln w="12700">
            <a:solidFill>
              <a:srgbClr val="4CBFFF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755648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Knowledge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Workspace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" y="64282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A8D6"/>
                </a:solidFill>
              </a:rPr>
              <a:t>SoulDrive | 京东 AI + 移动存储大赛线上面试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55680" y="63367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9D3FF"/>
                </a:solidFill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 w="12700">
            <a:solidFill>
              <a:srgbClr val="F5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B4D"/>
                </a:solidFill>
              </a:rPr>
              <a:t>01  痛点：移动存储仍是“被动文件容器”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85039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8708F"/>
                </a:solidFill>
              </a:rPr>
              <a:t>资料在设备里，但理解、总结和溯源仍然依赖人工或云端工具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828800" cy="0"/>
          </a:xfrm>
          <a:prstGeom prst="line">
            <a:avLst/>
          </a:prstGeom>
          <a:noFill/>
          <a:ln w="31750">
            <a:solidFill>
              <a:srgbClr val="E125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282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08F"/>
                </a:solidFill>
              </a:rPr>
              <a:t>SoulDrive | 京东 AI + 移动存储大赛线上面试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3367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64F4"/>
                </a:solidFill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572768"/>
            <a:ext cx="324612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1430">
            <a:solidFill>
              <a:srgbClr val="BBD6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572768"/>
            <a:ext cx="73152" cy="1353312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719072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A2C73"/>
                </a:solidFill>
              </a:rPr>
              <a:t>资料堆积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886968" y="2048256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32238"/>
                </a:solidFill>
              </a:rPr>
              <a:t>论文、课程、合同和实验记录都在盘里，但查找与理解成本高。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1572768"/>
            <a:ext cx="324612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1430">
            <a:solidFill>
              <a:srgbClr val="BBD6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572768"/>
            <a:ext cx="73152" cy="1353312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1719072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A2C73"/>
                </a:solidFill>
              </a:rPr>
              <a:t>隐私顾虑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4590288" y="2048256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32238"/>
                </a:solidFill>
              </a:rPr>
              <a:t>私有资料不适合随意上传云端大模型，企业和科研场景尤其敏感。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92440" y="1572768"/>
            <a:ext cx="324612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1430">
            <a:solidFill>
              <a:srgbClr val="BBD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1572768"/>
            <a:ext cx="73152" cy="1353312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3608" y="1719072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A2C73"/>
                </a:solidFill>
              </a:rPr>
              <a:t>答案不可信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8293608" y="2048256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32238"/>
                </a:solidFill>
              </a:rPr>
              <a:t>普通聊天式总结缺少证据来源，面向知识工作时难以复核。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9808" y="3730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251B"/>
                </a:solidFill>
              </a:rPr>
              <a:t>关键判断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413308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71B4D"/>
                </a:solidFill>
              </a:rPr>
              <a:t>移动存储的下一阶段价值，不只是容量和便携，而是“带着知识和智能一起移动”。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5148072"/>
            <a:ext cx="100584" cy="100584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5074920"/>
            <a:ext cx="9217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32238"/>
                </a:solidFill>
              </a:rPr>
              <a:t>学生：课程资料、论文、实验记录随身问答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22960" y="5495544"/>
            <a:ext cx="100584" cy="100584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5422392"/>
            <a:ext cx="9217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32238"/>
                </a:solidFill>
              </a:rPr>
              <a:t>科研/企业：私有文档本地分析，减少外传风险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22960" y="5843016"/>
            <a:ext cx="100584" cy="100584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5769864"/>
            <a:ext cx="9217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32238"/>
                </a:solidFill>
              </a:rPr>
              <a:t>评审视角：AI 与移动存储形成真实闭环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-411480"/>
            <a:ext cx="3840480" cy="3840480"/>
          </a:xfrm>
          <a:prstGeom prst="arc">
            <a:avLst/>
          </a:prstGeom>
          <a:noFill/>
          <a:ln w="13970">
            <a:solidFill>
              <a:srgbClr val="19D3FF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4572000"/>
            <a:ext cx="3840480" cy="3840480"/>
          </a:xfrm>
          <a:prstGeom prst="arc">
            <a:avLst/>
          </a:prstGeom>
          <a:noFill/>
          <a:ln w="13970">
            <a:solidFill>
              <a:srgbClr val="1464F4">
                <a:alpha val="4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84048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方案：把移动盘升级成随身 AI 工作区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85039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B9D8FF"/>
                </a:solidFill>
              </a:rPr>
              <a:t>资料留在本地，AI 负责解析、检索、回答和证据溯源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828800" cy="0"/>
          </a:xfrm>
          <a:prstGeom prst="line">
            <a:avLst/>
          </a:prstGeom>
          <a:noFill/>
          <a:ln w="31750">
            <a:solidFill>
              <a:srgbClr val="E125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282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A8D6"/>
                </a:solidFill>
              </a:rPr>
              <a:t>SoulDrive | 京东 AI + 移动存储大赛线上面试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55680" y="63367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9D3FF"/>
                </a:solidFill>
              </a:rPr>
              <a:t>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1828800"/>
            <a:ext cx="1508760" cy="694944"/>
          </a:xfrm>
          <a:prstGeom prst="roundRect">
            <a:avLst>
              <a:gd name="adj" fmla="val 7895"/>
            </a:avLst>
          </a:prstGeom>
          <a:solidFill>
            <a:srgbClr val="0C4FC2"/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9476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移动工作区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841248" y="22219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F5FF"/>
                </a:solidFill>
              </a:rPr>
              <a:t>SoulDrive/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2743200" y="1828800"/>
            <a:ext cx="1508760" cy="694944"/>
          </a:xfrm>
          <a:prstGeom prst="roundRect">
            <a:avLst>
              <a:gd name="adj" fmla="val 7895"/>
            </a:avLst>
          </a:prstGeom>
          <a:solidFill>
            <a:srgbClr val="0C6FD7"/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19476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文档解析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2834640" y="22219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F5FF"/>
                </a:solidFill>
              </a:rPr>
              <a:t>Docling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4736592" y="1828800"/>
            <a:ext cx="1508760" cy="694944"/>
          </a:xfrm>
          <a:prstGeom prst="roundRect">
            <a:avLst>
              <a:gd name="adj" fmla="val 7895"/>
            </a:avLst>
          </a:prstGeom>
          <a:solidFill>
            <a:srgbClr val="0E8ED6"/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9476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多路索引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4828032" y="22219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F5FF"/>
                </a:solidFill>
              </a:rPr>
              <a:t>向量/FTS/图谱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6729984" y="1828800"/>
            <a:ext cx="1508760" cy="694944"/>
          </a:xfrm>
          <a:prstGeom prst="roundRect">
            <a:avLst>
              <a:gd name="adj" fmla="val 7895"/>
            </a:avLst>
          </a:prstGeom>
          <a:solidFill>
            <a:srgbClr val="0B7D9B"/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19476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本地问答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6821424" y="22219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F5FF"/>
                </a:solidFill>
              </a:rPr>
              <a:t>GGUF 模型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8723376" y="1828800"/>
            <a:ext cx="1508760" cy="694944"/>
          </a:xfrm>
          <a:prstGeom prst="roundRect">
            <a:avLst>
              <a:gd name="adj" fmla="val 7895"/>
            </a:avLst>
          </a:prstGeom>
          <a:solidFill>
            <a:srgbClr val="E1251B"/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14816" y="19476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证据输出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8814816" y="22219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F5FF"/>
                </a:solidFill>
              </a:rPr>
              <a:t>E1/E2 引用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2267712" y="2185416"/>
            <a:ext cx="457200" cy="0"/>
          </a:xfrm>
          <a:prstGeom prst="line">
            <a:avLst/>
          </a:prstGeom>
          <a:noFill/>
          <a:ln w="17780">
            <a:solidFill>
              <a:srgbClr val="19D3F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261104" y="2185416"/>
            <a:ext cx="457200" cy="0"/>
          </a:xfrm>
          <a:prstGeom prst="line">
            <a:avLst/>
          </a:prstGeom>
          <a:noFill/>
          <a:ln w="17780">
            <a:solidFill>
              <a:srgbClr val="19D3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54496" y="2185416"/>
            <a:ext cx="457200" cy="0"/>
          </a:xfrm>
          <a:prstGeom prst="line">
            <a:avLst/>
          </a:prstGeom>
          <a:noFill/>
          <a:ln w="17780">
            <a:solidFill>
              <a:srgbClr val="19D3F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47888" y="2185416"/>
            <a:ext cx="457200" cy="0"/>
          </a:xfrm>
          <a:prstGeom prst="line">
            <a:avLst/>
          </a:prstGeom>
          <a:noFill/>
          <a:ln w="17780">
            <a:solidFill>
              <a:srgbClr val="19D3F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9808" y="3401568"/>
            <a:ext cx="3520440" cy="1216152"/>
          </a:xfrm>
          <a:prstGeom prst="roundRect">
            <a:avLst>
              <a:gd name="adj" fmla="val 4511"/>
            </a:avLst>
          </a:prstGeom>
          <a:solidFill>
            <a:srgbClr val="0E3679">
              <a:alpha val="95000"/>
            </a:srgbClr>
          </a:solidFill>
          <a:ln w="11430">
            <a:solidFill>
              <a:srgbClr val="2D74D8">
                <a:alpha val="7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3401568"/>
            <a:ext cx="73152" cy="1216152"/>
          </a:xfrm>
          <a:prstGeom prst="rect">
            <a:avLst/>
          </a:prstGeom>
          <a:solidFill>
            <a:srgbClr val="19D3FF"/>
          </a:solidFill>
          <a:ln w="12700">
            <a:solidFill>
              <a:srgbClr val="19D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" y="3547872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用户体验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950976" y="3877056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插入移动盘或打开桌面端后，资料进入本地知识库；用户像问助手一样提问，但答案带来源、可复核。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98848" y="3401568"/>
            <a:ext cx="3520440" cy="1216152"/>
          </a:xfrm>
          <a:prstGeom prst="roundRect">
            <a:avLst>
              <a:gd name="adj" fmla="val 4511"/>
            </a:avLst>
          </a:prstGeom>
          <a:solidFill>
            <a:srgbClr val="0E3679">
              <a:alpha val="95000"/>
            </a:srgbClr>
          </a:solidFill>
          <a:ln w="11430">
            <a:solidFill>
              <a:srgbClr val="2D74D8">
                <a:alpha val="7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98848" y="3401568"/>
            <a:ext cx="73152" cy="1216152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3547872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比赛契合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4700016" y="3877056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移动存储不再只是搬运数据，而是承载模型、索引、知识图谱、审计日志和运行状态。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247888" y="3401568"/>
            <a:ext cx="3154680" cy="1216152"/>
          </a:xfrm>
          <a:prstGeom prst="roundRect">
            <a:avLst>
              <a:gd name="adj" fmla="val 4511"/>
            </a:avLst>
          </a:prstGeom>
          <a:solidFill>
            <a:srgbClr val="0E3679">
              <a:alpha val="95000"/>
            </a:srgbClr>
          </a:solidFill>
          <a:ln w="11430">
            <a:solidFill>
              <a:srgbClr val="2D74D8">
                <a:alpha val="7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47888" y="3401568"/>
            <a:ext cx="73152" cy="1216152"/>
          </a:xfrm>
          <a:prstGeom prst="rect">
            <a:avLst/>
          </a:prstGeom>
          <a:solidFill>
            <a:srgbClr val="19D3FF"/>
          </a:solidFill>
          <a:ln w="12700">
            <a:solidFill>
              <a:srgbClr val="19D3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49056" y="35478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核心价值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8449056" y="3877056"/>
            <a:ext cx="2770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离线/弱网可用，降低私有资料上传风险，并让个人知识资产可以随身移动。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 w="12700">
            <a:solidFill>
              <a:srgbClr val="F5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B4D"/>
                </a:solidFill>
              </a:rPr>
              <a:t>03  架构闭环：桌面端 + 本地 Sidecar + RAG 引擎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85039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8708F"/>
                </a:solidFill>
              </a:rPr>
              <a:t>Tauri 负责桌面体验与进程守护，Python sidecar 负责知识处理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828800" cy="0"/>
          </a:xfrm>
          <a:prstGeom prst="line">
            <a:avLst/>
          </a:prstGeom>
          <a:noFill/>
          <a:ln w="31750">
            <a:solidFill>
              <a:srgbClr val="E125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282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08F"/>
                </a:solidFill>
              </a:rPr>
              <a:t>SoulDrive | 京东 AI + 移动存储大赛线上面试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3367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64F4"/>
                </a:solidFill>
              </a:rPr>
              <a:t>04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1508760"/>
            <a:ext cx="29718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1430">
            <a:solidFill>
              <a:srgbClr val="BBD6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508760"/>
            <a:ext cx="73152" cy="1170432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55064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A2C73"/>
                </a:solidFill>
              </a:rPr>
              <a:t>React + Tauri 桌面端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914400" y="1984248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32238"/>
                </a:solidFill>
              </a:rPr>
              <a:t>文档管理、聊天、证据卡片、知识导图、运行态展示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508760"/>
            <a:ext cx="29718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1430">
            <a:solidFill>
              <a:srgbClr val="BBD6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508760"/>
            <a:ext cx="73152" cy="1170432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655064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A2C73"/>
                </a:solidFill>
              </a:rPr>
              <a:t>Python Sidecar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4773168" y="1984248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32238"/>
                </a:solidFill>
              </a:rPr>
              <a:t>FastAPI 本地服务，管理解析、索引、检索、生成、安全和审计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430768" y="1508760"/>
            <a:ext cx="29718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1430">
            <a:solidFill>
              <a:srgbClr val="BBD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30768" y="1508760"/>
            <a:ext cx="73152" cy="1170432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1936" y="1655064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A2C73"/>
                </a:solidFill>
              </a:rPr>
              <a:t>移动工作区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8631936" y="1984248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32238"/>
                </a:solidFill>
              </a:rPr>
              <a:t>documents / index / models / audit / runtime 全部落在 SoulDrive 工作区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03320" y="2084832"/>
            <a:ext cx="822960" cy="0"/>
          </a:xfrm>
          <a:prstGeom prst="line">
            <a:avLst/>
          </a:prstGeom>
          <a:noFill/>
          <a:ln w="17780">
            <a:solidFill>
              <a:srgbClr val="1464F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62088" y="2084832"/>
            <a:ext cx="822960" cy="0"/>
          </a:xfrm>
          <a:prstGeom prst="line">
            <a:avLst/>
          </a:prstGeom>
          <a:noFill/>
          <a:ln w="17780">
            <a:solidFill>
              <a:srgbClr val="1464F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6112" y="3547872"/>
            <a:ext cx="1152144" cy="713232"/>
          </a:xfrm>
          <a:prstGeom prst="hexagon">
            <a:avLst/>
          </a:prstGeom>
          <a:solidFill>
            <a:srgbClr val="1464F4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369417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Docling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822960" y="440740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8708F"/>
                </a:solidFill>
              </a:rPr>
              <a:t>版面解析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670048" y="3547872"/>
            <a:ext cx="1152144" cy="713232"/>
          </a:xfrm>
          <a:prstGeom prst="hexagon">
            <a:avLst/>
          </a:prstGeom>
          <a:solidFill>
            <a:srgbClr val="1464F4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15768" y="369417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Vector + FTS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2596896" y="440740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8708F"/>
                </a:solidFill>
              </a:rPr>
              <a:t>混合召回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443984" y="3547872"/>
            <a:ext cx="1152144" cy="713232"/>
          </a:xfrm>
          <a:prstGeom prst="hexagon">
            <a:avLst/>
          </a:prstGeom>
          <a:solidFill>
            <a:srgbClr val="1464F4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9704" y="369417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Parent-Child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4370832" y="440740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8708F"/>
                </a:solidFill>
              </a:rPr>
              <a:t>短块召回长块回答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6217920" y="3547872"/>
            <a:ext cx="1152144" cy="713232"/>
          </a:xfrm>
          <a:prstGeom prst="hexagon">
            <a:avLst/>
          </a:prstGeom>
          <a:solidFill>
            <a:srgbClr val="1464F4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369417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GraphRAG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144768" y="440740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8708F"/>
                </a:solidFill>
              </a:rPr>
              <a:t>实体关系补强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7991856" y="3547872"/>
            <a:ext cx="1152144" cy="713232"/>
          </a:xfrm>
          <a:prstGeom prst="hexagon">
            <a:avLst/>
          </a:prstGeom>
          <a:solidFill>
            <a:srgbClr val="E1251B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37576" y="369417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Evidence Gate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7918704" y="440740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8708F"/>
                </a:solidFill>
              </a:rPr>
              <a:t>证据不足拒答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9765792" y="3547872"/>
            <a:ext cx="1152144" cy="713232"/>
          </a:xfrm>
          <a:prstGeom prst="hexagon">
            <a:avLst/>
          </a:prstGeom>
          <a:solidFill>
            <a:srgbClr val="1464F4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11512" y="369417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Audit Chain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9692640" y="440740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8708F"/>
                </a:solidFill>
              </a:rPr>
              <a:t>过程可审计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786384" y="546811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2C73"/>
                </a:solidFill>
              </a:rPr>
              <a:t>工程边界：前端不直接做 RAG；Tauri 守护 sidecar；核心知识处理集中在本地 Python 服务。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-411480"/>
            <a:ext cx="3840480" cy="3840480"/>
          </a:xfrm>
          <a:prstGeom prst="arc">
            <a:avLst/>
          </a:prstGeom>
          <a:noFill/>
          <a:ln w="13970">
            <a:solidFill>
              <a:srgbClr val="19D3FF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4572000"/>
            <a:ext cx="3840480" cy="3840480"/>
          </a:xfrm>
          <a:prstGeom prst="arc">
            <a:avLst/>
          </a:prstGeom>
          <a:noFill/>
          <a:ln w="13970">
            <a:solidFill>
              <a:srgbClr val="1464F4">
                <a:alpha val="4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84048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亮点一：端侧私有化 + 移动工作区锁定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85039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B9D8FF"/>
                </a:solidFill>
              </a:rPr>
              <a:t>设备在，知识引擎可用；设备不在，系统锁定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828800" cy="0"/>
          </a:xfrm>
          <a:prstGeom prst="line">
            <a:avLst/>
          </a:prstGeom>
          <a:noFill/>
          <a:ln w="31750">
            <a:solidFill>
              <a:srgbClr val="E125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282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A8D6"/>
                </a:solidFill>
              </a:rPr>
              <a:t>SoulDrive | 京东 AI + 移动存储大赛线上面试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55680" y="63367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9D3FF"/>
                </a:solidFill>
              </a:rPr>
              <a:t>05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1508760"/>
            <a:ext cx="3154680" cy="1234440"/>
          </a:xfrm>
          <a:prstGeom prst="roundRect">
            <a:avLst>
              <a:gd name="adj" fmla="val 4444"/>
            </a:avLst>
          </a:prstGeom>
          <a:solidFill>
            <a:srgbClr val="0E3679">
              <a:alpha val="95000"/>
            </a:srgbClr>
          </a:solidFill>
          <a:ln w="11430">
            <a:solidFill>
              <a:srgbClr val="2D74D8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1508760"/>
            <a:ext cx="73152" cy="1234440"/>
          </a:xfrm>
          <a:prstGeom prst="rect">
            <a:avLst/>
          </a:prstGeom>
          <a:solidFill>
            <a:srgbClr val="19D3FF"/>
          </a:solidFill>
          <a:ln w="12700">
            <a:solidFill>
              <a:srgbClr val="19D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55064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本地优先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914400" y="1984248"/>
            <a:ext cx="27706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模型、索引、图谱、审计日志优先落在本地或移动工作区，降低资料外传风险。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41648" y="150876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0E3679">
              <a:alpha val="95000"/>
            </a:srgbClr>
          </a:solidFill>
          <a:ln w="11430">
            <a:solidFill>
              <a:srgbClr val="2D74D8">
                <a:alpha val="7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41648" y="1508760"/>
            <a:ext cx="73152" cy="123444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42816" y="1655064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工作区抽象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4242816" y="1984248"/>
            <a:ext cx="32278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`SoulDrive/` 统一管理 documents、index、models、audit、runtime，避免业务代码依赖固定盘符。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27264" y="150876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0E3679">
              <a:alpha val="95000"/>
            </a:srgbClr>
          </a:solidFill>
          <a:ln w="11430">
            <a:solidFill>
              <a:srgbClr val="2D74D8">
                <a:alpha val="7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27264" y="1508760"/>
            <a:ext cx="73152" cy="1234440"/>
          </a:xfrm>
          <a:prstGeom prst="rect">
            <a:avLst/>
          </a:prstGeom>
          <a:solidFill>
            <a:srgbClr val="19D3FF"/>
          </a:solidFill>
          <a:ln w="12700">
            <a:solidFill>
              <a:srgbClr val="19D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1655064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安全锁定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8028432" y="1984248"/>
            <a:ext cx="2862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移动工作区拔出后进入 locked 状态，停止继续访问已经不在场的数据。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261872" y="3913632"/>
            <a:ext cx="1463040" cy="694944"/>
          </a:xfrm>
          <a:prstGeom prst="roundRect">
            <a:avLst>
              <a:gd name="adj" fmla="val 7895"/>
            </a:avLst>
          </a:prstGeom>
          <a:solidFill>
            <a:srgbClr val="1464F4"/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53312" y="40325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插入设备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1353312" y="43068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F5FF"/>
                </a:solidFill>
              </a:rPr>
              <a:t>探测工作区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3246120" y="3913632"/>
            <a:ext cx="1463040" cy="694944"/>
          </a:xfrm>
          <a:prstGeom prst="roundRect">
            <a:avLst>
              <a:gd name="adj" fmla="val 7895"/>
            </a:avLst>
          </a:prstGeom>
          <a:solidFill>
            <a:srgbClr val="0B78C8"/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40325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解锁运行态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3337560" y="43068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F5FF"/>
                </a:solidFill>
              </a:rPr>
              <a:t>auth / token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5230368" y="3913632"/>
            <a:ext cx="1463040" cy="694944"/>
          </a:xfrm>
          <a:prstGeom prst="roundRect">
            <a:avLst>
              <a:gd name="adj" fmla="val 7895"/>
            </a:avLst>
          </a:prstGeom>
          <a:solidFill>
            <a:srgbClr val="0B9EAB"/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40325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索引和问答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5321808" y="43068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F5FF"/>
                </a:solidFill>
              </a:rPr>
              <a:t>local RAG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7214616" y="3913632"/>
            <a:ext cx="1463040" cy="694944"/>
          </a:xfrm>
          <a:prstGeom prst="roundRect">
            <a:avLst>
              <a:gd name="adj" fmla="val 7895"/>
            </a:avLst>
          </a:prstGeom>
          <a:solidFill>
            <a:srgbClr val="F5A623"/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06056" y="40325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拔出设备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7306056" y="43068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F5FF"/>
                </a:solidFill>
              </a:rPr>
              <a:t>停止访问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9198864" y="3913632"/>
            <a:ext cx="1261872" cy="694944"/>
          </a:xfrm>
          <a:prstGeom prst="roundRect">
            <a:avLst>
              <a:gd name="adj" fmla="val 7895"/>
            </a:avLst>
          </a:prstGeom>
          <a:solidFill>
            <a:srgbClr val="E1251B"/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90304" y="40325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Locked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9290304" y="430682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F5FF"/>
                </a:solidFill>
              </a:rPr>
              <a:t>保护数据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2724912" y="4270248"/>
            <a:ext cx="502920" cy="0"/>
          </a:xfrm>
          <a:prstGeom prst="line">
            <a:avLst/>
          </a:prstGeom>
          <a:noFill/>
          <a:ln w="17780">
            <a:solidFill>
              <a:srgbClr val="19D3FF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709160" y="4270248"/>
            <a:ext cx="502920" cy="0"/>
          </a:xfrm>
          <a:prstGeom prst="line">
            <a:avLst/>
          </a:prstGeom>
          <a:noFill/>
          <a:ln w="17780">
            <a:solidFill>
              <a:srgbClr val="19D3F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693408" y="4270248"/>
            <a:ext cx="502920" cy="0"/>
          </a:xfrm>
          <a:prstGeom prst="line">
            <a:avLst/>
          </a:prstGeom>
          <a:noFill/>
          <a:ln w="17780">
            <a:solidFill>
              <a:srgbClr val="19D3F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677656" y="4270248"/>
            <a:ext cx="502920" cy="0"/>
          </a:xfrm>
          <a:prstGeom prst="line">
            <a:avLst/>
          </a:prstGeom>
          <a:noFill/>
          <a:ln w="17780">
            <a:solidFill>
              <a:srgbClr val="19D3FF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05840" y="5586984"/>
            <a:ext cx="100584" cy="100584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07008" y="5513832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本地 API 使用随机 token、loopback 边界和限流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05840" y="5897880"/>
            <a:ext cx="100584" cy="100584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07008" y="5824728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加密工作区覆盖文档、元数据、索引与图谱存储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 w="12700">
            <a:solidFill>
              <a:srgbClr val="F5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B4D"/>
                </a:solidFill>
              </a:rPr>
              <a:t>05  亮点二：混合检索 + 证据链，降低幻觉风险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85039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8708F"/>
                </a:solidFill>
              </a:rPr>
              <a:t>不是让大模型自由发挥，而是先找证据，再基于证据回答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828800" cy="0"/>
          </a:xfrm>
          <a:prstGeom prst="line">
            <a:avLst/>
          </a:prstGeom>
          <a:noFill/>
          <a:ln w="31750">
            <a:solidFill>
              <a:srgbClr val="E125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282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08F"/>
                </a:solidFill>
              </a:rPr>
              <a:t>SoulDrive | 京东 AI + 移动存储大赛线上面试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3367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64F4"/>
                </a:solidFill>
              </a:rPr>
              <a:t>06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1325880" cy="694944"/>
          </a:xfrm>
          <a:prstGeom prst="roundRect">
            <a:avLst>
              <a:gd name="adj" fmla="val 7895"/>
            </a:avLst>
          </a:prstGeom>
          <a:solidFill>
            <a:srgbClr val="0A2C73"/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105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用户问题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914400" y="20848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F5FF"/>
                </a:solidFill>
              </a:rPr>
              <a:t>query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1417320" cy="694944"/>
          </a:xfrm>
          <a:prstGeom prst="roundRect">
            <a:avLst>
              <a:gd name="adj" fmla="val 7895"/>
            </a:avLst>
          </a:prstGeom>
          <a:solidFill>
            <a:srgbClr val="1464F4"/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4447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向量召回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2834640" y="171907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F5FF"/>
                </a:solidFill>
              </a:rPr>
              <a:t>semantic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2743200" y="2148840"/>
            <a:ext cx="1417320" cy="694944"/>
          </a:xfrm>
          <a:prstGeom prst="roundRect">
            <a:avLst>
              <a:gd name="adj" fmla="val 7895"/>
            </a:avLst>
          </a:prstGeom>
          <a:solidFill>
            <a:srgbClr val="0B78C8"/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2677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FTS 关键词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2834640" y="25420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F5FF"/>
                </a:solidFill>
              </a:rPr>
              <a:t>keyword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1417320" cy="694944"/>
          </a:xfrm>
          <a:prstGeom prst="roundRect">
            <a:avLst>
              <a:gd name="adj" fmla="val 7895"/>
            </a:avLst>
          </a:prstGeom>
          <a:solidFill>
            <a:srgbClr val="0B9EAB"/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4447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父子切片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4709160" y="171907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F5FF"/>
                </a:solidFill>
              </a:rPr>
              <a:t>context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4617720" y="2148840"/>
            <a:ext cx="1417320" cy="694944"/>
          </a:xfrm>
          <a:prstGeom prst="roundRect">
            <a:avLst>
              <a:gd name="adj" fmla="val 7895"/>
            </a:avLst>
          </a:prstGeom>
          <a:solidFill>
            <a:srgbClr val="0B7D9B"/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2677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图谱补强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4709160" y="25420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F5FF"/>
                </a:solidFill>
              </a:rPr>
              <a:t>relation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537960" y="1691640"/>
            <a:ext cx="1508760" cy="694944"/>
          </a:xfrm>
          <a:prstGeom prst="roundRect">
            <a:avLst>
              <a:gd name="adj" fmla="val 7895"/>
            </a:avLst>
          </a:prstGeom>
          <a:solidFill>
            <a:srgbClr val="E1251B"/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8105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RRF + rerank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6629400" y="20848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F5FF"/>
                </a:solidFill>
              </a:rPr>
              <a:t>ranking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8549640" y="1691640"/>
            <a:ext cx="1600200" cy="694944"/>
          </a:xfrm>
          <a:prstGeom prst="roundRect">
            <a:avLst>
              <a:gd name="adj" fmla="val 7895"/>
            </a:avLst>
          </a:prstGeom>
          <a:solidFill>
            <a:srgbClr val="F5A623"/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41080" y="18105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Evidence Gate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8641080" y="20848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E8F5FF"/>
                </a:solidFill>
              </a:rPr>
              <a:t>拒答/生成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2157984" y="2048256"/>
            <a:ext cx="566928" cy="-365760"/>
          </a:xfrm>
          <a:prstGeom prst="line">
            <a:avLst/>
          </a:prstGeom>
          <a:noFill/>
          <a:ln w="17780">
            <a:solidFill>
              <a:srgbClr val="1464F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157984" y="2048256"/>
            <a:ext cx="566928" cy="457200"/>
          </a:xfrm>
          <a:prstGeom prst="line">
            <a:avLst/>
          </a:prstGeom>
          <a:noFill/>
          <a:ln w="17780">
            <a:solidFill>
              <a:srgbClr val="1464F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187952" y="1682496"/>
            <a:ext cx="411480" cy="0"/>
          </a:xfrm>
          <a:prstGeom prst="line">
            <a:avLst/>
          </a:prstGeom>
          <a:noFill/>
          <a:ln w="17780">
            <a:solidFill>
              <a:srgbClr val="1464F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187952" y="2505456"/>
            <a:ext cx="411480" cy="0"/>
          </a:xfrm>
          <a:prstGeom prst="line">
            <a:avLst/>
          </a:prstGeom>
          <a:noFill/>
          <a:ln w="17780">
            <a:solidFill>
              <a:srgbClr val="1464F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053328" y="1682496"/>
            <a:ext cx="466344" cy="365760"/>
          </a:xfrm>
          <a:prstGeom prst="line">
            <a:avLst/>
          </a:prstGeom>
          <a:noFill/>
          <a:ln w="17780">
            <a:solidFill>
              <a:srgbClr val="1464F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053328" y="2505456"/>
            <a:ext cx="466344" cy="-457200"/>
          </a:xfrm>
          <a:prstGeom prst="line">
            <a:avLst/>
          </a:prstGeom>
          <a:noFill/>
          <a:ln w="17780">
            <a:solidFill>
              <a:srgbClr val="1464F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065008" y="2048256"/>
            <a:ext cx="466344" cy="0"/>
          </a:xfrm>
          <a:prstGeom prst="line">
            <a:avLst/>
          </a:prstGeom>
          <a:noFill/>
          <a:ln w="17780">
            <a:solidFill>
              <a:srgbClr val="1464F4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22960" y="3401568"/>
            <a:ext cx="4892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1430">
            <a:solidFill>
              <a:srgbClr val="BBD6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3401568"/>
            <a:ext cx="73152" cy="123444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4128" y="3547872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A2C73"/>
                </a:solidFill>
              </a:rPr>
              <a:t>为什么这样设计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1024128" y="3877056"/>
            <a:ext cx="45079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32238"/>
                </a:solidFill>
              </a:rPr>
              <a:t>向量检索擅长语义相似，关键词检索擅长专有名词和章节命中；父子切片解决“短块召回、长块回答”；图谱补充实体关系。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16752" y="3401568"/>
            <a:ext cx="4892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1430">
            <a:solidFill>
              <a:srgbClr val="BBD6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16752" y="3401568"/>
            <a:ext cx="73152" cy="123444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3547872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A2C73"/>
                </a:solidFill>
              </a:rPr>
              <a:t>可信输出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6217920" y="3877056"/>
            <a:ext cx="45079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32238"/>
                </a:solidFill>
              </a:rPr>
              <a:t>回答必须带 E1/E2 等证据编号，前端展示证据卡片和导图；证据不足时拒答或降级。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14400" y="53035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251B"/>
                </a:solidFill>
              </a:rPr>
              <a:t>面试表达关键词：端侧、混合检索、证据、可审计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 w="12700">
            <a:solidFill>
              <a:srgbClr val="F5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B4D"/>
                </a:solidFill>
              </a:rPr>
              <a:t>06  评测验证：7B 提升可靠性，代价是延迟增加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85039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8708F"/>
                </a:solidFill>
              </a:rPr>
              <a:t>基于 scripts/eval_rag.py 对 3B 与 7B 回答结果做离线对比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828800" cy="0"/>
          </a:xfrm>
          <a:prstGeom prst="line">
            <a:avLst/>
          </a:prstGeom>
          <a:noFill/>
          <a:ln w="31750">
            <a:solidFill>
              <a:srgbClr val="E125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282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08F"/>
                </a:solidFill>
              </a:rPr>
              <a:t>SoulDrive | 京东 AI + 移动存储大赛线上面试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3367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64F4"/>
                </a:solidFill>
              </a:rPr>
              <a:t>07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1353312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BD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179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708F"/>
                </a:solidFill>
              </a:rPr>
              <a:t>3B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15727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58708F"/>
                </a:solidFill>
              </a:rPr>
              <a:t>qwen2.5-3b-instruct-q4_k_m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3794760" y="1353312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FF2F1"/>
          </a:solidFill>
          <a:ln w="12700">
            <a:solidFill>
              <a:srgbClr val="F2B5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9352" y="15179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251B"/>
                </a:solidFill>
              </a:rPr>
              <a:t>7B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15727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E1251B"/>
                </a:solidFill>
              </a:rPr>
              <a:t>qwen2.5-7b-instruct-q4_k_m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7086600" y="1353312"/>
            <a:ext cx="4160520" cy="914400"/>
          </a:xfrm>
          <a:prstGeom prst="roundRect">
            <a:avLst>
              <a:gd name="adj" fmla="val 5000"/>
            </a:avLst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96912" y="14996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D3FF"/>
                </a:solidFill>
              </a:rPr>
              <a:t>结论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82128" y="149047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7B 更适合高可信问答；3B 可保留为快速模式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7315200" y="185623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8E7FF"/>
                </a:solidFill>
              </a:rPr>
              <a:t>数据不是只看准确率，也看拒答、引用和耗时取舍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2960" y="276148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238"/>
                </a:solidFill>
              </a:rPr>
              <a:t>综合可靠率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606040" y="2788920"/>
            <a:ext cx="2834640" cy="146304"/>
          </a:xfrm>
          <a:prstGeom prst="rect">
            <a:avLst/>
          </a:prstGeom>
          <a:solidFill>
            <a:srgbClr val="DCEAFF"/>
          </a:solidFill>
          <a:ln w="12700">
            <a:solidFill>
              <a:srgbClr val="DCEA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06040" y="2788920"/>
            <a:ext cx="1516532" cy="146304"/>
          </a:xfrm>
          <a:prstGeom prst="rect">
            <a:avLst/>
          </a:prstGeom>
          <a:solidFill>
            <a:srgbClr val="7A9BCB"/>
          </a:solidFill>
          <a:ln w="12700">
            <a:solidFill>
              <a:srgbClr val="7A9B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2999232"/>
            <a:ext cx="2834640" cy="146304"/>
          </a:xfrm>
          <a:prstGeom prst="rect">
            <a:avLst/>
          </a:prstGeom>
          <a:solidFill>
            <a:srgbClr val="DCEAFF"/>
          </a:solidFill>
          <a:ln w="12700">
            <a:solidFill>
              <a:srgbClr val="DCEA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06040" y="2999232"/>
            <a:ext cx="1740469" cy="146304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9552" y="27340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8708F"/>
                </a:solidFill>
              </a:rPr>
              <a:t>53.5%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5559552" y="29443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E1251B"/>
                </a:solidFill>
              </a:rPr>
              <a:t>61.4%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822960" y="34290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238"/>
                </a:solidFill>
              </a:rPr>
              <a:t>可回答题达标率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2606040" y="3456432"/>
            <a:ext cx="2834640" cy="146304"/>
          </a:xfrm>
          <a:prstGeom prst="rect">
            <a:avLst/>
          </a:prstGeom>
          <a:solidFill>
            <a:srgbClr val="DCEAFF"/>
          </a:solidFill>
          <a:ln w="12700">
            <a:solidFill>
              <a:srgbClr val="DCEA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3456432"/>
            <a:ext cx="1632753" cy="146304"/>
          </a:xfrm>
          <a:prstGeom prst="rect">
            <a:avLst/>
          </a:prstGeom>
          <a:solidFill>
            <a:srgbClr val="7A9BCB"/>
          </a:solidFill>
          <a:ln w="12700">
            <a:solidFill>
              <a:srgbClr val="7A9BC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06040" y="3666744"/>
            <a:ext cx="2834640" cy="146304"/>
          </a:xfrm>
          <a:prstGeom prst="rect">
            <a:avLst/>
          </a:prstGeom>
          <a:solidFill>
            <a:srgbClr val="DCEAFF"/>
          </a:solidFill>
          <a:ln w="12700">
            <a:solidFill>
              <a:srgbClr val="DCEA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06040" y="3666744"/>
            <a:ext cx="1726296" cy="146304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34015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8708F"/>
                </a:solidFill>
              </a:rPr>
              <a:t>57.6%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5559552" y="3611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E1251B"/>
                </a:solidFill>
              </a:rPr>
              <a:t>60.9%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822960" y="409651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238"/>
                </a:solidFill>
              </a:rPr>
              <a:t>拒答正确率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2606040" y="4123944"/>
            <a:ext cx="2834640" cy="146304"/>
          </a:xfrm>
          <a:prstGeom prst="rect">
            <a:avLst/>
          </a:prstGeom>
          <a:solidFill>
            <a:srgbClr val="DCEAFF"/>
          </a:solidFill>
          <a:ln w="12700">
            <a:solidFill>
              <a:srgbClr val="DCEA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06040" y="4123944"/>
            <a:ext cx="314645" cy="146304"/>
          </a:xfrm>
          <a:prstGeom prst="rect">
            <a:avLst/>
          </a:prstGeom>
          <a:solidFill>
            <a:srgbClr val="7A9BCB"/>
          </a:solidFill>
          <a:ln w="12700">
            <a:solidFill>
              <a:srgbClr val="7A9BC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06040" y="4334256"/>
            <a:ext cx="2834640" cy="146304"/>
          </a:xfrm>
          <a:prstGeom prst="rect">
            <a:avLst/>
          </a:prstGeom>
          <a:solidFill>
            <a:srgbClr val="DCEAFF"/>
          </a:solidFill>
          <a:ln w="12700">
            <a:solidFill>
              <a:srgbClr val="DCEA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06040" y="4334256"/>
            <a:ext cx="1890705" cy="146304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9552" y="40690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8708F"/>
                </a:solidFill>
              </a:rPr>
              <a:t>11.1%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5559552" y="42793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E1251B"/>
                </a:solidFill>
              </a:rPr>
              <a:t>66.7%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822960" y="476402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238"/>
                </a:solidFill>
              </a:rPr>
              <a:t>答案关键词覆盖率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2606040" y="4791456"/>
            <a:ext cx="2834640" cy="146304"/>
          </a:xfrm>
          <a:prstGeom prst="rect">
            <a:avLst/>
          </a:prstGeom>
          <a:solidFill>
            <a:srgbClr val="DCEAFF"/>
          </a:solidFill>
          <a:ln w="12700">
            <a:solidFill>
              <a:srgbClr val="DCEA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06040" y="4791456"/>
            <a:ext cx="1765981" cy="146304"/>
          </a:xfrm>
          <a:prstGeom prst="rect">
            <a:avLst/>
          </a:prstGeom>
          <a:solidFill>
            <a:srgbClr val="7A9BCB"/>
          </a:solidFill>
          <a:ln w="12700">
            <a:solidFill>
              <a:srgbClr val="7A9BC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06040" y="5001768"/>
            <a:ext cx="2834640" cy="146304"/>
          </a:xfrm>
          <a:prstGeom prst="rect">
            <a:avLst/>
          </a:prstGeom>
          <a:solidFill>
            <a:srgbClr val="DCEAFF"/>
          </a:solidFill>
          <a:ln w="12700">
            <a:solidFill>
              <a:srgbClr val="DCEA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06040" y="5001768"/>
            <a:ext cx="1785823" cy="146304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59552" y="47365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8708F"/>
                </a:solidFill>
              </a:rPr>
              <a:t>62.3%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5559552" y="49469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E1251B"/>
                </a:solidFill>
              </a:rPr>
              <a:t>63.0%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6656832" y="2788920"/>
            <a:ext cx="202996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BBD6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56832" y="2788920"/>
            <a:ext cx="73152" cy="96012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29352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A2C73"/>
                </a:solidFill>
              </a:rPr>
              <a:t>+7.9 个百分点</a:t>
            </a:r>
            <a:endParaRPr lang="en-US" sz="1220" dirty="0"/>
          </a:p>
        </p:txBody>
      </p:sp>
      <p:sp>
        <p:nvSpPr>
          <p:cNvPr id="50" name="Text 48"/>
          <p:cNvSpPr/>
          <p:nvPr/>
        </p:nvSpPr>
        <p:spPr>
          <a:xfrm>
            <a:off x="6858000" y="3264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32238"/>
                </a:solidFill>
              </a:rPr>
              <a:t>综合可靠率提升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006840" y="2788920"/>
            <a:ext cx="202996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BBD6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06840" y="2788920"/>
            <a:ext cx="73152" cy="96012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08008" y="29352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A2C73"/>
                </a:solidFill>
              </a:rPr>
              <a:t>+55.6 个百分点</a:t>
            </a:r>
            <a:endParaRPr lang="en-US" sz="1220" dirty="0"/>
          </a:p>
        </p:txBody>
      </p:sp>
      <p:sp>
        <p:nvSpPr>
          <p:cNvPr id="54" name="Text 52"/>
          <p:cNvSpPr/>
          <p:nvPr/>
        </p:nvSpPr>
        <p:spPr>
          <a:xfrm>
            <a:off x="9208008" y="3264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32238"/>
                </a:solidFill>
              </a:rPr>
              <a:t>拒答正确率提升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656832" y="4352544"/>
            <a:ext cx="4389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1430">
            <a:solidFill>
              <a:srgbClr val="BBD6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56832" y="4352544"/>
            <a:ext cx="73152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0" y="4498848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A2C73"/>
                </a:solidFill>
              </a:rPr>
              <a:t>可靠但更慢</a:t>
            </a:r>
            <a:endParaRPr lang="en-US" sz="1220" dirty="0"/>
          </a:p>
        </p:txBody>
      </p:sp>
      <p:sp>
        <p:nvSpPr>
          <p:cNvPr id="58" name="Text 56"/>
          <p:cNvSpPr/>
          <p:nvPr/>
        </p:nvSpPr>
        <p:spPr>
          <a:xfrm>
            <a:off x="6858000" y="4828032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32238"/>
                </a:solidFill>
              </a:rPr>
              <a:t>平均端到端耗时：21977 ms -&gt; 29621 ms，增加约 7.6 秒。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656832" y="5248656"/>
            <a:ext cx="4389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1430">
            <a:solidFill>
              <a:srgbClr val="BBD6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56832" y="5248656"/>
            <a:ext cx="73152" cy="749808"/>
          </a:xfrm>
          <a:prstGeom prst="rect">
            <a:avLst/>
          </a:prstGeom>
          <a:solidFill>
            <a:srgbClr val="1EAD73"/>
          </a:solidFill>
          <a:ln w="12700">
            <a:solidFill>
              <a:srgbClr val="1EAD7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0" y="5394960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A2C73"/>
                </a:solidFill>
              </a:rPr>
              <a:t>后续策略</a:t>
            </a:r>
            <a:endParaRPr lang="en-US" sz="1220" dirty="0"/>
          </a:p>
        </p:txBody>
      </p:sp>
      <p:sp>
        <p:nvSpPr>
          <p:cNvPr id="62" name="Text 60"/>
          <p:cNvSpPr/>
          <p:nvPr/>
        </p:nvSpPr>
        <p:spPr>
          <a:xfrm>
            <a:off x="6858000" y="5724144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32238"/>
                </a:solidFill>
              </a:rPr>
              <a:t>双模型模式：快速问答优先 3B，高可信/复杂问题切换 7B。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-411480"/>
            <a:ext cx="3840480" cy="3840480"/>
          </a:xfrm>
          <a:prstGeom prst="arc">
            <a:avLst/>
          </a:prstGeom>
          <a:noFill/>
          <a:ln w="13970">
            <a:solidFill>
              <a:srgbClr val="19D3FF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4572000"/>
            <a:ext cx="3840480" cy="3840480"/>
          </a:xfrm>
          <a:prstGeom prst="arc">
            <a:avLst/>
          </a:prstGeom>
          <a:noFill/>
          <a:ln w="13970">
            <a:solidFill>
              <a:srgbClr val="1464F4">
                <a:alpha val="4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84048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 工程完成度：不止 Demo，而是可落地产品闭环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85039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B9D8FF"/>
                </a:solidFill>
              </a:rPr>
              <a:t>安全、审计、测试、打包和运行态管理都已纳入设计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828800" cy="0"/>
          </a:xfrm>
          <a:prstGeom prst="line">
            <a:avLst/>
          </a:prstGeom>
          <a:noFill/>
          <a:ln w="31750">
            <a:solidFill>
              <a:srgbClr val="E125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282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A8D6"/>
                </a:solidFill>
              </a:rPr>
              <a:t>SoulDrive | 京东 AI + 移动存储大赛线上面试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55680" y="63367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9D3FF"/>
                </a:solidFill>
              </a:rPr>
              <a:t>08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41732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0E3679">
              <a:alpha val="95000"/>
            </a:srgbClr>
          </a:solidFill>
          <a:ln w="11430">
            <a:solidFill>
              <a:srgbClr val="2D74D8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417320"/>
            <a:ext cx="73152" cy="1234440"/>
          </a:xfrm>
          <a:prstGeom prst="rect">
            <a:avLst/>
          </a:prstGeom>
          <a:solidFill>
            <a:srgbClr val="19D3FF"/>
          </a:solidFill>
          <a:ln w="12700">
            <a:solidFill>
              <a:srgbClr val="19D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1563624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加密工作区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86968" y="1892808"/>
            <a:ext cx="2862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AES-GCM + 工作区密钥，覆盖文档、元数据、索引和图谱。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141732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0E3679">
              <a:alpha val="95000"/>
            </a:srgbClr>
          </a:solidFill>
          <a:ln w="11430">
            <a:solidFill>
              <a:srgbClr val="2D74D8">
                <a:alpha val="7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417320"/>
            <a:ext cx="73152" cy="1234440"/>
          </a:xfrm>
          <a:prstGeom prst="rect">
            <a:avLst/>
          </a:prstGeom>
          <a:solidFill>
            <a:srgbClr val="19D3FF"/>
          </a:solidFill>
          <a:ln w="12700">
            <a:solidFill>
              <a:srgbClr val="19D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1563624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本地 API 边界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4590288" y="1892808"/>
            <a:ext cx="2862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随机 token、loopback 请求、限流和安全解锁。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92440" y="141732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0E3679">
              <a:alpha val="95000"/>
            </a:srgbClr>
          </a:solidFill>
          <a:ln w="11430">
            <a:solidFill>
              <a:srgbClr val="2D74D8">
                <a:alpha val="7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1417320"/>
            <a:ext cx="73152" cy="1234440"/>
          </a:xfrm>
          <a:prstGeom prst="rect">
            <a:avLst/>
          </a:prstGeom>
          <a:solidFill>
            <a:srgbClr val="19D3FF"/>
          </a:solidFill>
          <a:ln w="12700">
            <a:solidFill>
              <a:srgbClr val="19D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3608" y="1563624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独立索引 worker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8293608" y="1892808"/>
            <a:ext cx="2862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耗时解析与嵌入生成不阻塞主服务。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324612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0E3679">
              <a:alpha val="95000"/>
            </a:srgbClr>
          </a:solidFill>
          <a:ln w="11430">
            <a:solidFill>
              <a:srgbClr val="2D74D8">
                <a:alpha val="7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246120"/>
            <a:ext cx="73152" cy="123444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3392424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hash-chain 审计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886968" y="3721608"/>
            <a:ext cx="2862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运行、检索、回答事件可追踪，可检测篡改。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89120" y="324612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0E3679">
              <a:alpha val="95000"/>
            </a:srgbClr>
          </a:solidFill>
          <a:ln w="11430">
            <a:solidFill>
              <a:srgbClr val="2D74D8">
                <a:alpha val="7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3246120"/>
            <a:ext cx="73152" cy="1234440"/>
          </a:xfrm>
          <a:prstGeom prst="rect">
            <a:avLst/>
          </a:prstGeom>
          <a:solidFill>
            <a:srgbClr val="19D3FF"/>
          </a:solidFill>
          <a:ln w="12700">
            <a:solidFill>
              <a:srgbClr val="19D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3392424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桌面 sidecar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4590288" y="3721608"/>
            <a:ext cx="2862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Tauri 启动、守护、退出清理本地后端。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92440" y="324612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0E3679">
              <a:alpha val="95000"/>
            </a:srgbClr>
          </a:solidFill>
          <a:ln w="11430">
            <a:solidFill>
              <a:srgbClr val="2D74D8">
                <a:alpha val="7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2440" y="3246120"/>
            <a:ext cx="73152" cy="1234440"/>
          </a:xfrm>
          <a:prstGeom prst="rect">
            <a:avLst/>
          </a:prstGeom>
          <a:solidFill>
            <a:srgbClr val="19D3FF"/>
          </a:solidFill>
          <a:ln w="12700">
            <a:solidFill>
              <a:srgbClr val="19D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93608" y="3392424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测试覆盖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8293608" y="3721608"/>
            <a:ext cx="2862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40+ 测试文件覆盖检索、RAG、安全、图谱、审计和模型运行。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8952" y="5358384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</a:rPr>
              <a:t>评审可感知的差异：我不仅做了模型调用，还把端侧产品真正要面对的隐私、安全、稳定性和可维护性一起纳入了系统设计。</a:t>
            </a:r>
            <a:endParaRPr lang="en-US" sz="13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 w="12700">
            <a:solidFill>
              <a:srgbClr val="F5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B4D"/>
                </a:solidFill>
              </a:rPr>
              <a:t>08  未来优化：从可用 Demo 到可交付端侧产品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85039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8708F"/>
                </a:solidFill>
              </a:rPr>
              <a:t>围绕更快、更广、更可信、更像产品四条线继续迭代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828800" cy="0"/>
          </a:xfrm>
          <a:prstGeom prst="line">
            <a:avLst/>
          </a:prstGeom>
          <a:noFill/>
          <a:ln w="31750">
            <a:solidFill>
              <a:srgbClr val="E125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282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08F"/>
                </a:solidFill>
              </a:rPr>
              <a:t>SoulDrive | 京东 AI + 移动存储大赛线上面试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3367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64F4"/>
                </a:solidFill>
              </a:rPr>
              <a:t>09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4672" y="1490472"/>
            <a:ext cx="256032" cy="256032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1764792"/>
            <a:ext cx="0" cy="475488"/>
          </a:xfrm>
          <a:prstGeom prst="line">
            <a:avLst/>
          </a:prstGeom>
          <a:noFill/>
          <a:ln w="12700">
            <a:solidFill>
              <a:srgbClr val="BBD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14173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A2C73"/>
                </a:solidFill>
              </a:rPr>
              <a:t>短期：性能与模型策略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3520440" y="139903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32238"/>
                </a:solidFill>
              </a:rPr>
              <a:t>双模型模式：普通问题走 3B，高可信/复杂问题切 7B；继续优化模型加载、首 token 延迟和上下文压缩。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04672" y="2313432"/>
            <a:ext cx="256032" cy="256032"/>
          </a:xfrm>
          <a:prstGeom prst="ellipse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" y="2587752"/>
            <a:ext cx="0" cy="475488"/>
          </a:xfrm>
          <a:prstGeom prst="line">
            <a:avLst/>
          </a:prstGeom>
          <a:noFill/>
          <a:ln w="12700">
            <a:solidFill>
              <a:srgbClr val="BBD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224028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A2C73"/>
                </a:solidFill>
              </a:rPr>
              <a:t>中期：文档与多模态扩展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3520440" y="222199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32238"/>
                </a:solidFill>
              </a:rPr>
              <a:t>从 PDF/论文扩展到 Word、PPT、图片 OCR、扫描件和音视频摘要，覆盖真实学习与办公资料。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804672" y="3136392"/>
            <a:ext cx="256032" cy="256032"/>
          </a:xfrm>
          <a:prstGeom prst="ellipse">
            <a:avLst/>
          </a:prstGeom>
          <a:solidFill>
            <a:srgbClr val="1EAD73"/>
          </a:solidFill>
          <a:ln w="12700">
            <a:solidFill>
              <a:srgbClr val="1EAD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3410712"/>
            <a:ext cx="0" cy="475488"/>
          </a:xfrm>
          <a:prstGeom prst="line">
            <a:avLst/>
          </a:prstGeom>
          <a:noFill/>
          <a:ln w="12700">
            <a:solidFill>
              <a:srgbClr val="BBD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306324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A2C73"/>
                </a:solidFill>
              </a:rPr>
              <a:t>中期：检索与证据质量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3520440" y="30449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32238"/>
                </a:solidFill>
              </a:rPr>
              <a:t>加强章节识别、表格理解、跨文档证据聚合和引用覆盖率评测，让回答更稳、更可追溯。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04672" y="395935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" y="4233672"/>
            <a:ext cx="0" cy="475488"/>
          </a:xfrm>
          <a:prstGeom prst="line">
            <a:avLst/>
          </a:prstGeom>
          <a:noFill/>
          <a:ln w="12700">
            <a:solidFill>
              <a:srgbClr val="BBD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61872" y="388620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A2C73"/>
                </a:solidFill>
              </a:rPr>
              <a:t>长期：私有知识工作流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3520440" y="386791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32238"/>
                </a:solidFill>
              </a:rPr>
              <a:t>打通问答、证据链、知识图谱、导图和审计，形成导入资料 -&gt; 理解资料 -&gt; 组织知识 -&gt; 输出报告。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04672" y="4782312"/>
            <a:ext cx="256032" cy="256032"/>
          </a:xfrm>
          <a:prstGeom prst="ellipse">
            <a:avLst/>
          </a:prstGeom>
          <a:solidFill>
            <a:srgbClr val="0A2C73"/>
          </a:solidFill>
          <a:ln w="12700">
            <a:solidFill>
              <a:srgbClr val="0A2C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2688" y="5056632"/>
            <a:ext cx="0" cy="475488"/>
          </a:xfrm>
          <a:prstGeom prst="line">
            <a:avLst/>
          </a:prstGeom>
          <a:noFill/>
          <a:ln w="12700">
            <a:solidFill>
              <a:srgbClr val="BBD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1872" y="47091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A2C73"/>
                </a:solidFill>
              </a:rPr>
              <a:t>长期：设备级产品化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3520440" y="469087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32238"/>
                </a:solidFill>
              </a:rPr>
              <a:t>围绕移动存储做授权、加密、离线升级、模型包管理和低配设备适配。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822960" y="5669280"/>
            <a:ext cx="10241280" cy="475488"/>
          </a:xfrm>
          <a:prstGeom prst="roundRect">
            <a:avLst>
              <a:gd name="adj" fmla="val 9615"/>
            </a:avLst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5806440"/>
            <a:ext cx="9646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面试收束：未来不是泛泛地“优化体验”，而是把性能、资料类型、证据质量和移动存储产品化逐步打穿。</a:t>
            </a:r>
            <a:endParaRPr lang="en-US" sz="9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-411480"/>
            <a:ext cx="3840480" cy="3840480"/>
          </a:xfrm>
          <a:prstGeom prst="arc">
            <a:avLst/>
          </a:prstGeom>
          <a:noFill/>
          <a:ln w="13970">
            <a:solidFill>
              <a:srgbClr val="19D3FF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4572000"/>
            <a:ext cx="3840480" cy="3840480"/>
          </a:xfrm>
          <a:prstGeom prst="arc">
            <a:avLst/>
          </a:prstGeom>
          <a:noFill/>
          <a:ln w="13970">
            <a:solidFill>
              <a:srgbClr val="1464F4">
                <a:alpha val="4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84048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 总结：从保存文件，到理解知识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85039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B9D8FF"/>
                </a:solidFill>
              </a:rPr>
              <a:t>SoulDrive 让移动存储承载 AI、知识和可信工作流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828800" cy="0"/>
          </a:xfrm>
          <a:prstGeom prst="line">
            <a:avLst/>
          </a:prstGeom>
          <a:noFill/>
          <a:ln w="31750">
            <a:solidFill>
              <a:srgbClr val="E125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282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A8D6"/>
                </a:solidFill>
              </a:rPr>
              <a:t>SoulDrive | 京东 AI + 移动存储大赛线上面试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55680" y="63367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9D3FF"/>
                </a:solidFill>
              </a:rPr>
              <a:t>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D3FF"/>
                </a:solidFill>
              </a:rPr>
              <a:t>一句话总结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移动存储设备上的个人 AI 知识操作系统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777240" y="3063240"/>
            <a:ext cx="2926080" cy="1097280"/>
          </a:xfrm>
          <a:prstGeom prst="roundRect">
            <a:avLst>
              <a:gd name="adj" fmla="val 5000"/>
            </a:avLst>
          </a:prstGeom>
          <a:solidFill>
            <a:srgbClr val="0E3679">
              <a:alpha val="95000"/>
            </a:srgbClr>
          </a:solidFill>
          <a:ln w="11430">
            <a:solidFill>
              <a:srgbClr val="2D74D8">
                <a:alpha val="7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063240"/>
            <a:ext cx="73152" cy="1097280"/>
          </a:xfrm>
          <a:prstGeom prst="rect">
            <a:avLst/>
          </a:prstGeom>
          <a:solidFill>
            <a:srgbClr val="19D3FF"/>
          </a:solidFill>
          <a:ln w="12700">
            <a:solidFill>
              <a:srgbClr val="19D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209544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当前能力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978408" y="3538728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端侧私有化、混合检索、证据链、审计、移动工作区锁定。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0" y="3063240"/>
            <a:ext cx="2926080" cy="1097280"/>
          </a:xfrm>
          <a:prstGeom prst="roundRect">
            <a:avLst>
              <a:gd name="adj" fmla="val 5000"/>
            </a:avLst>
          </a:prstGeom>
          <a:solidFill>
            <a:srgbClr val="0E3679">
              <a:alpha val="95000"/>
            </a:srgbClr>
          </a:solidFill>
          <a:ln w="11430">
            <a:solidFill>
              <a:srgbClr val="2D74D8">
                <a:alpha val="7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3063240"/>
            <a:ext cx="73152" cy="109728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7408" y="3209544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数据验证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4407408" y="3538728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7B 综合可靠率提升 +7.9 个百分点，拒答正确率提升 +55.6 个百分点。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35240" y="3063240"/>
            <a:ext cx="2926080" cy="1097280"/>
          </a:xfrm>
          <a:prstGeom prst="roundRect">
            <a:avLst>
              <a:gd name="adj" fmla="val 5000"/>
            </a:avLst>
          </a:prstGeom>
          <a:solidFill>
            <a:srgbClr val="0E3679">
              <a:alpha val="95000"/>
            </a:srgbClr>
          </a:solidFill>
          <a:ln w="11430">
            <a:solidFill>
              <a:srgbClr val="2D74D8">
                <a:alpha val="7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35240" y="3063240"/>
            <a:ext cx="73152" cy="1097280"/>
          </a:xfrm>
          <a:prstGeom prst="rect">
            <a:avLst/>
          </a:prstGeom>
          <a:solidFill>
            <a:srgbClr val="1EAD73"/>
          </a:solidFill>
          <a:ln w="12700">
            <a:solidFill>
              <a:srgbClr val="1EAD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36408" y="3209544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后续方向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7836408" y="3538728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</a:rPr>
              <a:t>双模型策略、多模态资料、私有知识工作流和设备级产品化。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7240" y="4800600"/>
            <a:ext cx="9052560" cy="0"/>
          </a:xfrm>
          <a:prstGeom prst="line">
            <a:avLst/>
          </a:prstGeom>
          <a:noFill/>
          <a:ln w="12700">
            <a:solidFill>
              <a:srgbClr val="4CBFFF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19379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251B"/>
                </a:solidFill>
              </a:rPr>
              <a:t>结尾表达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828800" y="515721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容量之外，下一代移动存储可以承载智能、知识和可审计的私有工作流。</a:t>
            </a:r>
            <a:endParaRPr lang="en-US" sz="14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SoulDrive 五分钟项目介绍</dc:title>
  <dc:subject>京东大学生 AI + 移动存储场景融合创新大赛线上面试介绍</dc:subject>
  <dc:creator>SoulDrive</dc:creator>
  <cp:lastModifiedBy>SoulDrive</cp:lastModifiedBy>
  <cp:revision>1</cp:revision>
  <dcterms:created xsi:type="dcterms:W3CDTF">2026-06-24T20:24:27Z</dcterms:created>
  <dcterms:modified xsi:type="dcterms:W3CDTF">2026-06-24T20:24:27Z</dcterms:modified>
</cp:coreProperties>
</file>